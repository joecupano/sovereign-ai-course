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80" r:id="rId3"/>
    <p:sldId id="258" r:id="rId4"/>
    <p:sldId id="257"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9801" autoAdjust="0"/>
  </p:normalViewPr>
  <p:slideViewPr>
    <p:cSldViewPr snapToGrid="0">
      <p:cViewPr varScale="1">
        <p:scale>
          <a:sx n="36" d="100"/>
          <a:sy n="36" d="100"/>
        </p:scale>
        <p:origin x="1844" y="2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33978C-9588-4C80-9C82-D165E73A7818}"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AF72B0-5C6E-4924-95E2-7DEC181E2312}" type="slidenum">
              <a:rPr lang="en-US" smtClean="0"/>
              <a:t>‹#›</a:t>
            </a:fld>
            <a:endParaRPr lang="en-US"/>
          </a:p>
        </p:txBody>
      </p:sp>
    </p:spTree>
    <p:extLst>
      <p:ext uri="{BB962C8B-B14F-4D97-AF65-F5344CB8AC3E}">
        <p14:creationId xmlns:p14="http://schemas.microsoft.com/office/powerpoint/2010/main" val="1317921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cset.georgetown.edu/publication/ai-chips-what-they-are-and-why-they-matter/"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https://cset.georgetown.edu/publication/the-semiconductor-supply-chain/" TargetMode="External"/><Relationship Id="rId4" Type="http://schemas.openxmlformats.org/officeDocument/2006/relationships/hyperlink" Target="https://www.youtube.com/watch?v=uJTwH_IK9QE"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nsta.org/blog/carbon-cost-our-clicks-environmental-impact-ai-science-educators-perspective" TargetMode="External"/><Relationship Id="rId2" Type="http://schemas.openxmlformats.org/officeDocument/2006/relationships/slide" Target="../slides/slide3.xml"/><Relationship Id="rId1" Type="http://schemas.openxmlformats.org/officeDocument/2006/relationships/notesMaster" Target="../notesMasters/notesMaster1.xml"/><Relationship Id="rId5" Type="http://schemas.openxmlformats.org/officeDocument/2006/relationships/hyperlink" Target="https://www.staxengineering.com/stax-hub/the-environmental-impact-of-data-centers/" TargetMode="External"/><Relationship Id="rId4" Type="http://schemas.openxmlformats.org/officeDocument/2006/relationships/hyperlink" Target="https://www.lincolninst.edu/publications/land-lines-magazine/articles/land-water-impacts-data-centers/"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ocs.ollama.com/quickstart"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docs.nvidia.com/datacenter/cloud-native/container-toolkit/latest/install-guide.html" TargetMode="External"/><Relationship Id="rId4" Type="http://schemas.openxmlformats.org/officeDocument/2006/relationships/hyperlink" Target="https://github.com/mlabonne/llm-course"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ocs.google.com/document/u/0/d/1e9wx9oBg7CR0s5O7YnYHVmX7H7pnITfoDxNdrSGkp60/mobilebasic"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teaching.cornell.edu/generative-artificial-intelligence/ethical-ai-teaching-and-learning" TargetMode="External"/><Relationship Id="rId4" Type="http://schemas.openxmlformats.org/officeDocument/2006/relationships/hyperlink" Target="https://lile.duke.edu/ai-ethics-learning-toolkit/"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[Georgetown CSET] AI Chips: What They Are and Why They Matter:</a:t>
            </a:r>
            <a:r>
              <a:rPr lang="en-US" dirty="0"/>
              <a:t> A gold-standard primer on GPU architecture vs. CPUs. </a:t>
            </a:r>
            <a:r>
              <a:rPr lang="en-US" dirty="0">
                <a:hlinkClick r:id="rId3"/>
              </a:rPr>
              <a:t>Read White Paper</a:t>
            </a:r>
            <a:r>
              <a:rPr lang="en-US" dirty="0"/>
              <a:t> </a:t>
            </a:r>
          </a:p>
          <a:p>
            <a:r>
              <a:rPr lang="en-US" b="1" dirty="0"/>
              <a:t>[YouTube] AI Chip Supply Chain Explained:</a:t>
            </a:r>
            <a:r>
              <a:rPr lang="en-US" dirty="0"/>
              <a:t> A visual breakdown of the "Foundry" system (TSMC, NVIDIA, etc.) and raw material bottlenecks. </a:t>
            </a:r>
            <a:r>
              <a:rPr lang="en-US" dirty="0">
                <a:hlinkClick r:id="rId4"/>
              </a:rPr>
              <a:t>Watch Video</a:t>
            </a:r>
            <a:r>
              <a:rPr lang="en-US" dirty="0"/>
              <a:t> </a:t>
            </a:r>
          </a:p>
          <a:p>
            <a:r>
              <a:rPr lang="en-US" b="1" dirty="0"/>
              <a:t>[CSET] The Semiconductor Supply Chain:</a:t>
            </a:r>
            <a:r>
              <a:rPr lang="en-US" dirty="0"/>
              <a:t> An interactive map and report on the global design, manufacturing, and assembly process. </a:t>
            </a:r>
            <a:r>
              <a:rPr lang="en-US" dirty="0">
                <a:hlinkClick r:id="rId5"/>
              </a:rPr>
              <a:t>Explore Report</a:t>
            </a:r>
            <a:r>
              <a:rPr lang="en-US" dirty="0"/>
              <a:t> </a:t>
            </a:r>
          </a:p>
          <a:p>
            <a:endParaRPr lang="en-US" dirty="0"/>
          </a:p>
        </p:txBody>
      </p:sp>
      <p:sp>
        <p:nvSpPr>
          <p:cNvPr id="4" name="Slide Number Placeholder 3"/>
          <p:cNvSpPr>
            <a:spLocks noGrp="1"/>
          </p:cNvSpPr>
          <p:nvPr>
            <p:ph type="sldNum" sz="quarter" idx="5"/>
          </p:nvPr>
        </p:nvSpPr>
        <p:spPr/>
        <p:txBody>
          <a:bodyPr/>
          <a:lstStyle/>
          <a:p>
            <a:fld id="{86AF72B0-5C6E-4924-95E2-7DEC181E2312}" type="slidenum">
              <a:rPr lang="en-US" smtClean="0"/>
              <a:t>2</a:t>
            </a:fld>
            <a:endParaRPr lang="en-US"/>
          </a:p>
        </p:txBody>
      </p:sp>
    </p:spTree>
    <p:extLst>
      <p:ext uri="{BB962C8B-B14F-4D97-AF65-F5344CB8AC3E}">
        <p14:creationId xmlns:p14="http://schemas.microsoft.com/office/powerpoint/2010/main" val="1397716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[NSTA] The Carbon Cost of Our Clicks:</a:t>
            </a:r>
            <a:r>
              <a:rPr lang="en-US" dirty="0"/>
              <a:t> A science-educator perspective on measuring the CO2 output of a single AI prompt. </a:t>
            </a:r>
            <a:r>
              <a:rPr lang="en-US" dirty="0">
                <a:hlinkClick r:id="rId3"/>
              </a:rPr>
              <a:t>Read Article</a:t>
            </a:r>
            <a:r>
              <a:rPr lang="en-US" dirty="0"/>
              <a:t> </a:t>
            </a:r>
          </a:p>
          <a:p>
            <a:r>
              <a:rPr lang="en-US" b="1" dirty="0"/>
              <a:t>[Lincoln Institute] Data Drain: Land and Water Impacts:</a:t>
            </a:r>
            <a:r>
              <a:rPr lang="en-US" dirty="0"/>
              <a:t> Reliable data on how data centers use millions of gallons of water for cooling. </a:t>
            </a:r>
            <a:r>
              <a:rPr lang="en-US" dirty="0">
                <a:hlinkClick r:id="rId4"/>
              </a:rPr>
              <a:t>Read Report</a:t>
            </a:r>
            <a:r>
              <a:rPr lang="en-US" dirty="0"/>
              <a:t> </a:t>
            </a:r>
          </a:p>
          <a:p>
            <a:r>
              <a:rPr lang="en-US" b="1" dirty="0"/>
              <a:t>[STAX Engineering] Environmental Impact of Data Centers:</a:t>
            </a:r>
            <a:r>
              <a:rPr lang="en-US" dirty="0"/>
              <a:t> A technical look at the 40% of electricity used just for cooling systems. </a:t>
            </a:r>
            <a:r>
              <a:rPr lang="en-US" dirty="0">
                <a:hlinkClick r:id="rId5"/>
              </a:rPr>
              <a:t>View Analysis</a:t>
            </a:r>
            <a:r>
              <a:rPr lang="en-US" dirty="0"/>
              <a:t> </a:t>
            </a:r>
          </a:p>
          <a:p>
            <a:endParaRPr lang="en-US" dirty="0"/>
          </a:p>
        </p:txBody>
      </p:sp>
      <p:sp>
        <p:nvSpPr>
          <p:cNvPr id="4" name="Slide Number Placeholder 3"/>
          <p:cNvSpPr>
            <a:spLocks noGrp="1"/>
          </p:cNvSpPr>
          <p:nvPr>
            <p:ph type="sldNum" sz="quarter" idx="5"/>
          </p:nvPr>
        </p:nvSpPr>
        <p:spPr/>
        <p:txBody>
          <a:bodyPr/>
          <a:lstStyle/>
          <a:p>
            <a:fld id="{86AF72B0-5C6E-4924-95E2-7DEC181E2312}" type="slidenum">
              <a:rPr lang="en-US" smtClean="0"/>
              <a:t>3</a:t>
            </a:fld>
            <a:endParaRPr lang="en-US"/>
          </a:p>
        </p:txBody>
      </p:sp>
    </p:spTree>
    <p:extLst>
      <p:ext uri="{BB962C8B-B14F-4D97-AF65-F5344CB8AC3E}">
        <p14:creationId xmlns:p14="http://schemas.microsoft.com/office/powerpoint/2010/main" val="1764778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[Ollama] Official Documentation:</a:t>
            </a:r>
            <a:r>
              <a:rPr lang="en-US" dirty="0"/>
              <a:t> The essential guide for students to run, pull, and customize models on their workstations. </a:t>
            </a:r>
            <a:r>
              <a:rPr lang="en-US" dirty="0">
                <a:hlinkClick r:id="rId3"/>
              </a:rPr>
              <a:t>View Docs</a:t>
            </a:r>
            <a:r>
              <a:rPr lang="en-US" dirty="0"/>
              <a:t> </a:t>
            </a:r>
          </a:p>
          <a:p>
            <a:r>
              <a:rPr lang="en-US" b="1" dirty="0"/>
              <a:t>[GitHub] The LLM Course (</a:t>
            </a:r>
            <a:r>
              <a:rPr lang="en-US" b="1" dirty="0" err="1"/>
              <a:t>mlabonne</a:t>
            </a:r>
            <a:r>
              <a:rPr lang="en-US" b="1" dirty="0"/>
              <a:t>):</a:t>
            </a:r>
            <a:r>
              <a:rPr lang="en-US" dirty="0"/>
              <a:t> An open-source roadmap covering tokenization, architecture, and deployment (Perfect for advanced students). </a:t>
            </a:r>
            <a:r>
              <a:rPr lang="en-US" dirty="0">
                <a:hlinkClick r:id="rId4"/>
              </a:rPr>
              <a:t>Access Course</a:t>
            </a:r>
            <a:r>
              <a:rPr lang="en-US" dirty="0"/>
              <a:t> </a:t>
            </a:r>
          </a:p>
          <a:p>
            <a:r>
              <a:rPr lang="en-US" b="1" dirty="0"/>
              <a:t>[Ubuntu] NVIDIA Container Toolkit Guide:</a:t>
            </a:r>
            <a:r>
              <a:rPr lang="en-US" dirty="0"/>
              <a:t> Necessary for getting the RTX 3050 to communicate with Linux containers. </a:t>
            </a:r>
            <a:r>
              <a:rPr lang="en-US" dirty="0">
                <a:hlinkClick r:id="rId5"/>
              </a:rPr>
              <a:t>Installation Guide</a:t>
            </a:r>
            <a:r>
              <a:rPr lang="en-US" dirty="0"/>
              <a:t> </a:t>
            </a:r>
          </a:p>
          <a:p>
            <a:endParaRPr lang="en-US" dirty="0"/>
          </a:p>
        </p:txBody>
      </p:sp>
      <p:sp>
        <p:nvSpPr>
          <p:cNvPr id="4" name="Slide Number Placeholder 3"/>
          <p:cNvSpPr>
            <a:spLocks noGrp="1"/>
          </p:cNvSpPr>
          <p:nvPr>
            <p:ph type="sldNum" sz="quarter" idx="5"/>
          </p:nvPr>
        </p:nvSpPr>
        <p:spPr/>
        <p:txBody>
          <a:bodyPr/>
          <a:lstStyle/>
          <a:p>
            <a:fld id="{86AF72B0-5C6E-4924-95E2-7DEC181E2312}" type="slidenum">
              <a:rPr lang="en-US" smtClean="0"/>
              <a:t>4</a:t>
            </a:fld>
            <a:endParaRPr lang="en-US"/>
          </a:p>
        </p:txBody>
      </p:sp>
    </p:spTree>
    <p:extLst>
      <p:ext uri="{BB962C8B-B14F-4D97-AF65-F5344CB8AC3E}">
        <p14:creationId xmlns:p14="http://schemas.microsoft.com/office/powerpoint/2010/main" val="278481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[MIT Media Lab] AI Ethics Education Curriculum:</a:t>
            </a:r>
            <a:r>
              <a:rPr lang="en-US" dirty="0"/>
              <a:t> Specifically designed for students (9th-12th) to discuss stakeholders and "Ethical Matrices." </a:t>
            </a:r>
            <a:r>
              <a:rPr lang="en-US" dirty="0">
                <a:hlinkClick r:id="rId3"/>
              </a:rPr>
              <a:t>Access Curriculum</a:t>
            </a:r>
            <a:r>
              <a:rPr lang="en-US" dirty="0"/>
              <a:t> </a:t>
            </a:r>
          </a:p>
          <a:p>
            <a:r>
              <a:rPr lang="en-US" b="1" dirty="0"/>
              <a:t>[Duke University] AI Ethics Learning Toolkit:</a:t>
            </a:r>
            <a:r>
              <a:rPr lang="en-US" dirty="0"/>
              <a:t> A collection of student-centered activities regarding sustainability and bias. </a:t>
            </a:r>
            <a:r>
              <a:rPr lang="en-US" dirty="0">
                <a:hlinkClick r:id="rId4"/>
              </a:rPr>
              <a:t>Explore Toolkit</a:t>
            </a:r>
            <a:r>
              <a:rPr lang="en-US" dirty="0"/>
              <a:t> </a:t>
            </a:r>
          </a:p>
          <a:p>
            <a:r>
              <a:rPr lang="en-US" b="1" dirty="0"/>
              <a:t>[Cornell University] Ethical AI for Teaching and Learning:</a:t>
            </a:r>
            <a:r>
              <a:rPr lang="en-US" dirty="0"/>
              <a:t> A high-level framework for assessing the reliability and validity of AI outputs. </a:t>
            </a:r>
            <a:r>
              <a:rPr lang="en-US">
                <a:hlinkClick r:id="rId5"/>
              </a:rPr>
              <a:t>View Framework</a:t>
            </a:r>
            <a:r>
              <a:rPr lang="en-US"/>
              <a:t> </a:t>
            </a:r>
          </a:p>
          <a:p>
            <a:endParaRPr lang="en-US"/>
          </a:p>
        </p:txBody>
      </p:sp>
      <p:sp>
        <p:nvSpPr>
          <p:cNvPr id="4" name="Slide Number Placeholder 3"/>
          <p:cNvSpPr>
            <a:spLocks noGrp="1"/>
          </p:cNvSpPr>
          <p:nvPr>
            <p:ph type="sldNum" sz="quarter" idx="5"/>
          </p:nvPr>
        </p:nvSpPr>
        <p:spPr/>
        <p:txBody>
          <a:bodyPr/>
          <a:lstStyle/>
          <a:p>
            <a:fld id="{86AF72B0-5C6E-4924-95E2-7DEC181E2312}" type="slidenum">
              <a:rPr lang="en-US" smtClean="0"/>
              <a:t>5</a:t>
            </a:fld>
            <a:endParaRPr lang="en-US"/>
          </a:p>
        </p:txBody>
      </p:sp>
    </p:spTree>
    <p:extLst>
      <p:ext uri="{BB962C8B-B14F-4D97-AF65-F5344CB8AC3E}">
        <p14:creationId xmlns:p14="http://schemas.microsoft.com/office/powerpoint/2010/main" val="2317359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A55BE-E843-F695-FC41-AE788D29C3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583F866-4D16-E942-F5F4-12D4199A8A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6212F5-169D-891B-C808-2F20B756E49C}"/>
              </a:ext>
            </a:extLst>
          </p:cNvPr>
          <p:cNvSpPr>
            <a:spLocks noGrp="1"/>
          </p:cNvSpPr>
          <p:nvPr>
            <p:ph type="dt" sz="half" idx="10"/>
          </p:nvPr>
        </p:nvSpPr>
        <p:spPr/>
        <p:txBody>
          <a:bodyPr/>
          <a:lstStyle/>
          <a:p>
            <a:fld id="{8133A0B7-7B6B-464B-ABD6-9B9ADB815E30}" type="datetimeFigureOut">
              <a:rPr lang="en-US" smtClean="0"/>
              <a:t>2/21/2026</a:t>
            </a:fld>
            <a:endParaRPr lang="en-US"/>
          </a:p>
        </p:txBody>
      </p:sp>
      <p:sp>
        <p:nvSpPr>
          <p:cNvPr id="5" name="Footer Placeholder 4">
            <a:extLst>
              <a:ext uri="{FF2B5EF4-FFF2-40B4-BE49-F238E27FC236}">
                <a16:creationId xmlns:a16="http://schemas.microsoft.com/office/drawing/2014/main" id="{8335CDC5-428C-7BBC-169B-5C51763AA1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49E12F-A5E1-CBE8-86A2-B914C88D1B29}"/>
              </a:ext>
            </a:extLst>
          </p:cNvPr>
          <p:cNvSpPr>
            <a:spLocks noGrp="1"/>
          </p:cNvSpPr>
          <p:nvPr>
            <p:ph type="sldNum" sz="quarter" idx="12"/>
          </p:nvPr>
        </p:nvSpPr>
        <p:spPr/>
        <p:txBody>
          <a:bodyPr/>
          <a:lstStyle/>
          <a:p>
            <a:fld id="{F89B0E96-53B6-4C1D-B33B-494DA5D3FE15}" type="slidenum">
              <a:rPr lang="en-US" smtClean="0"/>
              <a:t>‹#›</a:t>
            </a:fld>
            <a:endParaRPr lang="en-US"/>
          </a:p>
        </p:txBody>
      </p:sp>
    </p:spTree>
    <p:extLst>
      <p:ext uri="{BB962C8B-B14F-4D97-AF65-F5344CB8AC3E}">
        <p14:creationId xmlns:p14="http://schemas.microsoft.com/office/powerpoint/2010/main" val="3517478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9F24E-627C-4915-C354-DCCD1C0B72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9594BD-D5F8-3E84-C651-7A65C8707B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C3CE72-7397-2181-7373-2EF6CF850F25}"/>
              </a:ext>
            </a:extLst>
          </p:cNvPr>
          <p:cNvSpPr>
            <a:spLocks noGrp="1"/>
          </p:cNvSpPr>
          <p:nvPr>
            <p:ph type="dt" sz="half" idx="10"/>
          </p:nvPr>
        </p:nvSpPr>
        <p:spPr/>
        <p:txBody>
          <a:bodyPr/>
          <a:lstStyle/>
          <a:p>
            <a:fld id="{8133A0B7-7B6B-464B-ABD6-9B9ADB815E30}" type="datetimeFigureOut">
              <a:rPr lang="en-US" smtClean="0"/>
              <a:t>2/21/2026</a:t>
            </a:fld>
            <a:endParaRPr lang="en-US"/>
          </a:p>
        </p:txBody>
      </p:sp>
      <p:sp>
        <p:nvSpPr>
          <p:cNvPr id="5" name="Footer Placeholder 4">
            <a:extLst>
              <a:ext uri="{FF2B5EF4-FFF2-40B4-BE49-F238E27FC236}">
                <a16:creationId xmlns:a16="http://schemas.microsoft.com/office/drawing/2014/main" id="{D749A26D-64CA-0C73-6C67-87730A5DB6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173365-1F2C-6EE5-B798-58FA9E82EC51}"/>
              </a:ext>
            </a:extLst>
          </p:cNvPr>
          <p:cNvSpPr>
            <a:spLocks noGrp="1"/>
          </p:cNvSpPr>
          <p:nvPr>
            <p:ph type="sldNum" sz="quarter" idx="12"/>
          </p:nvPr>
        </p:nvSpPr>
        <p:spPr/>
        <p:txBody>
          <a:bodyPr/>
          <a:lstStyle/>
          <a:p>
            <a:fld id="{F89B0E96-53B6-4C1D-B33B-494DA5D3FE15}" type="slidenum">
              <a:rPr lang="en-US" smtClean="0"/>
              <a:t>‹#›</a:t>
            </a:fld>
            <a:endParaRPr lang="en-US"/>
          </a:p>
        </p:txBody>
      </p:sp>
    </p:spTree>
    <p:extLst>
      <p:ext uri="{BB962C8B-B14F-4D97-AF65-F5344CB8AC3E}">
        <p14:creationId xmlns:p14="http://schemas.microsoft.com/office/powerpoint/2010/main" val="4045313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7D37B-3629-F16F-9489-0B40DB51D0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560634-DB0B-C149-8982-ED18F05321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41AD9A-BB5F-4722-8DE3-25130F1F2EBD}"/>
              </a:ext>
            </a:extLst>
          </p:cNvPr>
          <p:cNvSpPr>
            <a:spLocks noGrp="1"/>
          </p:cNvSpPr>
          <p:nvPr>
            <p:ph type="dt" sz="half" idx="10"/>
          </p:nvPr>
        </p:nvSpPr>
        <p:spPr/>
        <p:txBody>
          <a:bodyPr/>
          <a:lstStyle/>
          <a:p>
            <a:fld id="{8133A0B7-7B6B-464B-ABD6-9B9ADB815E30}" type="datetimeFigureOut">
              <a:rPr lang="en-US" smtClean="0"/>
              <a:t>2/21/2026</a:t>
            </a:fld>
            <a:endParaRPr lang="en-US"/>
          </a:p>
        </p:txBody>
      </p:sp>
      <p:sp>
        <p:nvSpPr>
          <p:cNvPr id="5" name="Footer Placeholder 4">
            <a:extLst>
              <a:ext uri="{FF2B5EF4-FFF2-40B4-BE49-F238E27FC236}">
                <a16:creationId xmlns:a16="http://schemas.microsoft.com/office/drawing/2014/main" id="{07357CDA-5309-B11F-83BA-A255000CC1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882D9-467C-E1B5-98E2-3F8B15486078}"/>
              </a:ext>
            </a:extLst>
          </p:cNvPr>
          <p:cNvSpPr>
            <a:spLocks noGrp="1"/>
          </p:cNvSpPr>
          <p:nvPr>
            <p:ph type="sldNum" sz="quarter" idx="12"/>
          </p:nvPr>
        </p:nvSpPr>
        <p:spPr/>
        <p:txBody>
          <a:bodyPr/>
          <a:lstStyle/>
          <a:p>
            <a:fld id="{F89B0E96-53B6-4C1D-B33B-494DA5D3FE15}" type="slidenum">
              <a:rPr lang="en-US" smtClean="0"/>
              <a:t>‹#›</a:t>
            </a:fld>
            <a:endParaRPr lang="en-US"/>
          </a:p>
        </p:txBody>
      </p:sp>
    </p:spTree>
    <p:extLst>
      <p:ext uri="{BB962C8B-B14F-4D97-AF65-F5344CB8AC3E}">
        <p14:creationId xmlns:p14="http://schemas.microsoft.com/office/powerpoint/2010/main" val="3171282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C5D3-DE58-F5E8-B410-C69C3D1C79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D95F-BB38-B3CE-A2BC-037ADDE909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065E47-8369-882B-260F-1D007330D4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19693F-90AF-32F7-A9C8-2D0008D1C9C3}"/>
              </a:ext>
            </a:extLst>
          </p:cNvPr>
          <p:cNvSpPr>
            <a:spLocks noGrp="1"/>
          </p:cNvSpPr>
          <p:nvPr>
            <p:ph type="dt" sz="half" idx="10"/>
          </p:nvPr>
        </p:nvSpPr>
        <p:spPr/>
        <p:txBody>
          <a:bodyPr/>
          <a:lstStyle/>
          <a:p>
            <a:fld id="{8133A0B7-7B6B-464B-ABD6-9B9ADB815E30}" type="datetimeFigureOut">
              <a:rPr lang="en-US" smtClean="0"/>
              <a:t>2/21/2026</a:t>
            </a:fld>
            <a:endParaRPr lang="en-US"/>
          </a:p>
        </p:txBody>
      </p:sp>
      <p:sp>
        <p:nvSpPr>
          <p:cNvPr id="6" name="Footer Placeholder 5">
            <a:extLst>
              <a:ext uri="{FF2B5EF4-FFF2-40B4-BE49-F238E27FC236}">
                <a16:creationId xmlns:a16="http://schemas.microsoft.com/office/drawing/2014/main" id="{21B425E8-5894-FE57-61E1-38AD6893CB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04FE7D-AD18-DDE9-481A-A799E45A8D4D}"/>
              </a:ext>
            </a:extLst>
          </p:cNvPr>
          <p:cNvSpPr>
            <a:spLocks noGrp="1"/>
          </p:cNvSpPr>
          <p:nvPr>
            <p:ph type="sldNum" sz="quarter" idx="12"/>
          </p:nvPr>
        </p:nvSpPr>
        <p:spPr/>
        <p:txBody>
          <a:bodyPr/>
          <a:lstStyle/>
          <a:p>
            <a:fld id="{F89B0E96-53B6-4C1D-B33B-494DA5D3FE15}" type="slidenum">
              <a:rPr lang="en-US" smtClean="0"/>
              <a:t>‹#›</a:t>
            </a:fld>
            <a:endParaRPr lang="en-US"/>
          </a:p>
        </p:txBody>
      </p:sp>
    </p:spTree>
    <p:extLst>
      <p:ext uri="{BB962C8B-B14F-4D97-AF65-F5344CB8AC3E}">
        <p14:creationId xmlns:p14="http://schemas.microsoft.com/office/powerpoint/2010/main" val="625208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B4E3-BCFD-70CF-5D19-0C9CF545DE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6C926C-BDFC-9286-86B4-8793E9B649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DD7125-24D9-286A-5FAD-EEF59AB18B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2787A1-3CC7-DAAC-1E01-A25CCF46B7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6B31E6-1961-B77A-A4FF-4135EADECE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35CB4A-325A-F729-BC2E-DDB8E8A31BB6}"/>
              </a:ext>
            </a:extLst>
          </p:cNvPr>
          <p:cNvSpPr>
            <a:spLocks noGrp="1"/>
          </p:cNvSpPr>
          <p:nvPr>
            <p:ph type="dt" sz="half" idx="10"/>
          </p:nvPr>
        </p:nvSpPr>
        <p:spPr/>
        <p:txBody>
          <a:bodyPr/>
          <a:lstStyle/>
          <a:p>
            <a:fld id="{8133A0B7-7B6B-464B-ABD6-9B9ADB815E30}" type="datetimeFigureOut">
              <a:rPr lang="en-US" smtClean="0"/>
              <a:t>2/21/2026</a:t>
            </a:fld>
            <a:endParaRPr lang="en-US"/>
          </a:p>
        </p:txBody>
      </p:sp>
      <p:sp>
        <p:nvSpPr>
          <p:cNvPr id="8" name="Footer Placeholder 7">
            <a:extLst>
              <a:ext uri="{FF2B5EF4-FFF2-40B4-BE49-F238E27FC236}">
                <a16:creationId xmlns:a16="http://schemas.microsoft.com/office/drawing/2014/main" id="{271C7EBA-ACFB-F3B4-0325-89FE899AEC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1DCC6D-56DD-BEA6-C560-2123EB3C75B1}"/>
              </a:ext>
            </a:extLst>
          </p:cNvPr>
          <p:cNvSpPr>
            <a:spLocks noGrp="1"/>
          </p:cNvSpPr>
          <p:nvPr>
            <p:ph type="sldNum" sz="quarter" idx="12"/>
          </p:nvPr>
        </p:nvSpPr>
        <p:spPr/>
        <p:txBody>
          <a:bodyPr/>
          <a:lstStyle/>
          <a:p>
            <a:fld id="{F89B0E96-53B6-4C1D-B33B-494DA5D3FE15}" type="slidenum">
              <a:rPr lang="en-US" smtClean="0"/>
              <a:t>‹#›</a:t>
            </a:fld>
            <a:endParaRPr lang="en-US"/>
          </a:p>
        </p:txBody>
      </p:sp>
    </p:spTree>
    <p:extLst>
      <p:ext uri="{BB962C8B-B14F-4D97-AF65-F5344CB8AC3E}">
        <p14:creationId xmlns:p14="http://schemas.microsoft.com/office/powerpoint/2010/main" val="2374270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30130-8424-0258-3296-74ECB75860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21AC0C-75E7-2558-A8EB-569661C31685}"/>
              </a:ext>
            </a:extLst>
          </p:cNvPr>
          <p:cNvSpPr>
            <a:spLocks noGrp="1"/>
          </p:cNvSpPr>
          <p:nvPr>
            <p:ph type="dt" sz="half" idx="10"/>
          </p:nvPr>
        </p:nvSpPr>
        <p:spPr/>
        <p:txBody>
          <a:bodyPr/>
          <a:lstStyle/>
          <a:p>
            <a:fld id="{8133A0B7-7B6B-464B-ABD6-9B9ADB815E30}" type="datetimeFigureOut">
              <a:rPr lang="en-US" smtClean="0"/>
              <a:t>2/21/2026</a:t>
            </a:fld>
            <a:endParaRPr lang="en-US"/>
          </a:p>
        </p:txBody>
      </p:sp>
      <p:sp>
        <p:nvSpPr>
          <p:cNvPr id="4" name="Footer Placeholder 3">
            <a:extLst>
              <a:ext uri="{FF2B5EF4-FFF2-40B4-BE49-F238E27FC236}">
                <a16:creationId xmlns:a16="http://schemas.microsoft.com/office/drawing/2014/main" id="{CF670715-A0E9-F3A1-9D24-39821A95D0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298BC4-E094-F99B-9DDC-8764A62B7C5B}"/>
              </a:ext>
            </a:extLst>
          </p:cNvPr>
          <p:cNvSpPr>
            <a:spLocks noGrp="1"/>
          </p:cNvSpPr>
          <p:nvPr>
            <p:ph type="sldNum" sz="quarter" idx="12"/>
          </p:nvPr>
        </p:nvSpPr>
        <p:spPr/>
        <p:txBody>
          <a:bodyPr/>
          <a:lstStyle/>
          <a:p>
            <a:fld id="{F89B0E96-53B6-4C1D-B33B-494DA5D3FE15}" type="slidenum">
              <a:rPr lang="en-US" smtClean="0"/>
              <a:t>‹#›</a:t>
            </a:fld>
            <a:endParaRPr lang="en-US"/>
          </a:p>
        </p:txBody>
      </p:sp>
    </p:spTree>
    <p:extLst>
      <p:ext uri="{BB962C8B-B14F-4D97-AF65-F5344CB8AC3E}">
        <p14:creationId xmlns:p14="http://schemas.microsoft.com/office/powerpoint/2010/main" val="3576654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CED2BC-151B-CE6A-D6E1-70ABBBE0A1C6}"/>
              </a:ext>
            </a:extLst>
          </p:cNvPr>
          <p:cNvSpPr>
            <a:spLocks noGrp="1"/>
          </p:cNvSpPr>
          <p:nvPr>
            <p:ph type="dt" sz="half" idx="10"/>
          </p:nvPr>
        </p:nvSpPr>
        <p:spPr/>
        <p:txBody>
          <a:bodyPr/>
          <a:lstStyle/>
          <a:p>
            <a:fld id="{8133A0B7-7B6B-464B-ABD6-9B9ADB815E30}" type="datetimeFigureOut">
              <a:rPr lang="en-US" smtClean="0"/>
              <a:t>2/21/2026</a:t>
            </a:fld>
            <a:endParaRPr lang="en-US"/>
          </a:p>
        </p:txBody>
      </p:sp>
      <p:sp>
        <p:nvSpPr>
          <p:cNvPr id="3" name="Footer Placeholder 2">
            <a:extLst>
              <a:ext uri="{FF2B5EF4-FFF2-40B4-BE49-F238E27FC236}">
                <a16:creationId xmlns:a16="http://schemas.microsoft.com/office/drawing/2014/main" id="{2944E6C7-F9D7-D9AE-1CF3-2F757329F7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FDC67E-2BD3-2A52-6726-4D679E6E8CD2}"/>
              </a:ext>
            </a:extLst>
          </p:cNvPr>
          <p:cNvSpPr>
            <a:spLocks noGrp="1"/>
          </p:cNvSpPr>
          <p:nvPr>
            <p:ph type="sldNum" sz="quarter" idx="12"/>
          </p:nvPr>
        </p:nvSpPr>
        <p:spPr/>
        <p:txBody>
          <a:bodyPr/>
          <a:lstStyle/>
          <a:p>
            <a:fld id="{F89B0E96-53B6-4C1D-B33B-494DA5D3FE15}" type="slidenum">
              <a:rPr lang="en-US" smtClean="0"/>
              <a:t>‹#›</a:t>
            </a:fld>
            <a:endParaRPr lang="en-US"/>
          </a:p>
        </p:txBody>
      </p:sp>
    </p:spTree>
    <p:extLst>
      <p:ext uri="{BB962C8B-B14F-4D97-AF65-F5344CB8AC3E}">
        <p14:creationId xmlns:p14="http://schemas.microsoft.com/office/powerpoint/2010/main" val="1491977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2172E-C2F0-F134-FB23-C1C29F2673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121CA6-4874-CB77-AEC2-B4A6160AD8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14318E-767A-64AA-CB6A-DDE9BE6145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B463E4-27FF-4316-F066-6607FB021E33}"/>
              </a:ext>
            </a:extLst>
          </p:cNvPr>
          <p:cNvSpPr>
            <a:spLocks noGrp="1"/>
          </p:cNvSpPr>
          <p:nvPr>
            <p:ph type="dt" sz="half" idx="10"/>
          </p:nvPr>
        </p:nvSpPr>
        <p:spPr/>
        <p:txBody>
          <a:bodyPr/>
          <a:lstStyle/>
          <a:p>
            <a:fld id="{8133A0B7-7B6B-464B-ABD6-9B9ADB815E30}" type="datetimeFigureOut">
              <a:rPr lang="en-US" smtClean="0"/>
              <a:t>2/21/2026</a:t>
            </a:fld>
            <a:endParaRPr lang="en-US"/>
          </a:p>
        </p:txBody>
      </p:sp>
      <p:sp>
        <p:nvSpPr>
          <p:cNvPr id="6" name="Footer Placeholder 5">
            <a:extLst>
              <a:ext uri="{FF2B5EF4-FFF2-40B4-BE49-F238E27FC236}">
                <a16:creationId xmlns:a16="http://schemas.microsoft.com/office/drawing/2014/main" id="{40B6154B-7D30-38C6-7304-7FD492B254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4DA512-C1EA-1334-1ED1-C96D613CAA7D}"/>
              </a:ext>
            </a:extLst>
          </p:cNvPr>
          <p:cNvSpPr>
            <a:spLocks noGrp="1"/>
          </p:cNvSpPr>
          <p:nvPr>
            <p:ph type="sldNum" sz="quarter" idx="12"/>
          </p:nvPr>
        </p:nvSpPr>
        <p:spPr/>
        <p:txBody>
          <a:bodyPr/>
          <a:lstStyle/>
          <a:p>
            <a:fld id="{F89B0E96-53B6-4C1D-B33B-494DA5D3FE15}" type="slidenum">
              <a:rPr lang="en-US" smtClean="0"/>
              <a:t>‹#›</a:t>
            </a:fld>
            <a:endParaRPr lang="en-US"/>
          </a:p>
        </p:txBody>
      </p:sp>
    </p:spTree>
    <p:extLst>
      <p:ext uri="{BB962C8B-B14F-4D97-AF65-F5344CB8AC3E}">
        <p14:creationId xmlns:p14="http://schemas.microsoft.com/office/powerpoint/2010/main" val="2587698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D1BA4-320E-2503-8DD1-373E3EBC31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49E431-C566-42BB-46A0-A0C7E25301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47BD1A-CAA1-BD9E-8DFB-FB11F7C4E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FECE01-EE94-22D3-4C82-1F3929E0B7A8}"/>
              </a:ext>
            </a:extLst>
          </p:cNvPr>
          <p:cNvSpPr>
            <a:spLocks noGrp="1"/>
          </p:cNvSpPr>
          <p:nvPr>
            <p:ph type="dt" sz="half" idx="10"/>
          </p:nvPr>
        </p:nvSpPr>
        <p:spPr/>
        <p:txBody>
          <a:bodyPr/>
          <a:lstStyle/>
          <a:p>
            <a:fld id="{8133A0B7-7B6B-464B-ABD6-9B9ADB815E30}" type="datetimeFigureOut">
              <a:rPr lang="en-US" smtClean="0"/>
              <a:t>2/21/2026</a:t>
            </a:fld>
            <a:endParaRPr lang="en-US"/>
          </a:p>
        </p:txBody>
      </p:sp>
      <p:sp>
        <p:nvSpPr>
          <p:cNvPr id="6" name="Footer Placeholder 5">
            <a:extLst>
              <a:ext uri="{FF2B5EF4-FFF2-40B4-BE49-F238E27FC236}">
                <a16:creationId xmlns:a16="http://schemas.microsoft.com/office/drawing/2014/main" id="{3BDCDB60-4169-9B5E-4EC4-D287460D60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6E4688-9414-81ED-13F0-18F86E781A7A}"/>
              </a:ext>
            </a:extLst>
          </p:cNvPr>
          <p:cNvSpPr>
            <a:spLocks noGrp="1"/>
          </p:cNvSpPr>
          <p:nvPr>
            <p:ph type="sldNum" sz="quarter" idx="12"/>
          </p:nvPr>
        </p:nvSpPr>
        <p:spPr/>
        <p:txBody>
          <a:bodyPr/>
          <a:lstStyle/>
          <a:p>
            <a:fld id="{F89B0E96-53B6-4C1D-B33B-494DA5D3FE15}" type="slidenum">
              <a:rPr lang="en-US" smtClean="0"/>
              <a:t>‹#›</a:t>
            </a:fld>
            <a:endParaRPr lang="en-US"/>
          </a:p>
        </p:txBody>
      </p:sp>
    </p:spTree>
    <p:extLst>
      <p:ext uri="{BB962C8B-B14F-4D97-AF65-F5344CB8AC3E}">
        <p14:creationId xmlns:p14="http://schemas.microsoft.com/office/powerpoint/2010/main" val="370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DA796-1661-7E8C-95F1-FEF1A40FC7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CDD77D-2CF0-5536-222C-5B661B7F99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839099-431C-869A-DED5-BFCF5A086A57}"/>
              </a:ext>
            </a:extLst>
          </p:cNvPr>
          <p:cNvSpPr>
            <a:spLocks noGrp="1"/>
          </p:cNvSpPr>
          <p:nvPr>
            <p:ph type="dt" sz="half" idx="10"/>
          </p:nvPr>
        </p:nvSpPr>
        <p:spPr/>
        <p:txBody>
          <a:bodyPr/>
          <a:lstStyle/>
          <a:p>
            <a:fld id="{8133A0B7-7B6B-464B-ABD6-9B9ADB815E30}" type="datetimeFigureOut">
              <a:rPr lang="en-US" smtClean="0"/>
              <a:t>2/21/2026</a:t>
            </a:fld>
            <a:endParaRPr lang="en-US"/>
          </a:p>
        </p:txBody>
      </p:sp>
      <p:sp>
        <p:nvSpPr>
          <p:cNvPr id="5" name="Footer Placeholder 4">
            <a:extLst>
              <a:ext uri="{FF2B5EF4-FFF2-40B4-BE49-F238E27FC236}">
                <a16:creationId xmlns:a16="http://schemas.microsoft.com/office/drawing/2014/main" id="{D89C9516-40F0-1F6B-63B1-9715AE278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DA7F14-4392-B97F-4942-9C4E5125B98E}"/>
              </a:ext>
            </a:extLst>
          </p:cNvPr>
          <p:cNvSpPr>
            <a:spLocks noGrp="1"/>
          </p:cNvSpPr>
          <p:nvPr>
            <p:ph type="sldNum" sz="quarter" idx="12"/>
          </p:nvPr>
        </p:nvSpPr>
        <p:spPr/>
        <p:txBody>
          <a:bodyPr/>
          <a:lstStyle/>
          <a:p>
            <a:fld id="{F89B0E96-53B6-4C1D-B33B-494DA5D3FE15}" type="slidenum">
              <a:rPr lang="en-US" smtClean="0"/>
              <a:t>‹#›</a:t>
            </a:fld>
            <a:endParaRPr lang="en-US"/>
          </a:p>
        </p:txBody>
      </p:sp>
    </p:spTree>
    <p:extLst>
      <p:ext uri="{BB962C8B-B14F-4D97-AF65-F5344CB8AC3E}">
        <p14:creationId xmlns:p14="http://schemas.microsoft.com/office/powerpoint/2010/main" val="2606425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0A5065-C781-207E-FCE4-D632020AE6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D73607-D05E-9A68-BA3D-E8205DBA3C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DD2D0D-9DBA-8832-1C28-9019B42CB5D7}"/>
              </a:ext>
            </a:extLst>
          </p:cNvPr>
          <p:cNvSpPr>
            <a:spLocks noGrp="1"/>
          </p:cNvSpPr>
          <p:nvPr>
            <p:ph type="dt" sz="half" idx="10"/>
          </p:nvPr>
        </p:nvSpPr>
        <p:spPr/>
        <p:txBody>
          <a:bodyPr/>
          <a:lstStyle/>
          <a:p>
            <a:fld id="{8133A0B7-7B6B-464B-ABD6-9B9ADB815E30}" type="datetimeFigureOut">
              <a:rPr lang="en-US" smtClean="0"/>
              <a:t>2/21/2026</a:t>
            </a:fld>
            <a:endParaRPr lang="en-US"/>
          </a:p>
        </p:txBody>
      </p:sp>
      <p:sp>
        <p:nvSpPr>
          <p:cNvPr id="5" name="Footer Placeholder 4">
            <a:extLst>
              <a:ext uri="{FF2B5EF4-FFF2-40B4-BE49-F238E27FC236}">
                <a16:creationId xmlns:a16="http://schemas.microsoft.com/office/drawing/2014/main" id="{9741EA96-F753-FAA2-CA99-ED3D5AACD4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123459-1267-2CFC-41D8-82CBA4C48A0B}"/>
              </a:ext>
            </a:extLst>
          </p:cNvPr>
          <p:cNvSpPr>
            <a:spLocks noGrp="1"/>
          </p:cNvSpPr>
          <p:nvPr>
            <p:ph type="sldNum" sz="quarter" idx="12"/>
          </p:nvPr>
        </p:nvSpPr>
        <p:spPr/>
        <p:txBody>
          <a:bodyPr/>
          <a:lstStyle/>
          <a:p>
            <a:fld id="{F89B0E96-53B6-4C1D-B33B-494DA5D3FE15}" type="slidenum">
              <a:rPr lang="en-US" smtClean="0"/>
              <a:t>‹#›</a:t>
            </a:fld>
            <a:endParaRPr lang="en-US"/>
          </a:p>
        </p:txBody>
      </p:sp>
    </p:spTree>
    <p:extLst>
      <p:ext uri="{BB962C8B-B14F-4D97-AF65-F5344CB8AC3E}">
        <p14:creationId xmlns:p14="http://schemas.microsoft.com/office/powerpoint/2010/main" val="2751034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D7FCBE-F0A7-E6F4-1FBE-08E1CCF191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3D4578-7876-B831-6DF7-E01D251A8E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92BFF3-D7E5-331A-022C-FB27EEF31E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33A0B7-7B6B-464B-ABD6-9B9ADB815E30}" type="datetimeFigureOut">
              <a:rPr lang="en-US" smtClean="0"/>
              <a:t>2/21/2026</a:t>
            </a:fld>
            <a:endParaRPr lang="en-US"/>
          </a:p>
        </p:txBody>
      </p:sp>
      <p:sp>
        <p:nvSpPr>
          <p:cNvPr id="5" name="Footer Placeholder 4">
            <a:extLst>
              <a:ext uri="{FF2B5EF4-FFF2-40B4-BE49-F238E27FC236}">
                <a16:creationId xmlns:a16="http://schemas.microsoft.com/office/drawing/2014/main" id="{280AD591-A9E0-ABAE-D61B-E70B3EB4F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D5F96D-AE19-B6E1-A79D-1888F24FF7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9B0E96-53B6-4C1D-B33B-494DA5D3FE15}" type="slidenum">
              <a:rPr lang="en-US" smtClean="0"/>
              <a:t>‹#›</a:t>
            </a:fld>
            <a:endParaRPr lang="en-US"/>
          </a:p>
        </p:txBody>
      </p:sp>
    </p:spTree>
    <p:extLst>
      <p:ext uri="{BB962C8B-B14F-4D97-AF65-F5344CB8AC3E}">
        <p14:creationId xmlns:p14="http://schemas.microsoft.com/office/powerpoint/2010/main" val="3489841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84E46-AE59-592D-5A74-8F3D9F2AF400}"/>
              </a:ext>
            </a:extLst>
          </p:cNvPr>
          <p:cNvSpPr>
            <a:spLocks noGrp="1"/>
          </p:cNvSpPr>
          <p:nvPr>
            <p:ph type="ctrTitle"/>
          </p:nvPr>
        </p:nvSpPr>
        <p:spPr/>
        <p:txBody>
          <a:bodyPr>
            <a:normAutofit/>
          </a:bodyPr>
          <a:lstStyle/>
          <a:p>
            <a:r>
              <a:rPr lang="en-US" b="1" dirty="0"/>
              <a:t>Sovereign AI</a:t>
            </a:r>
            <a:endParaRPr lang="en-US" dirty="0"/>
          </a:p>
        </p:txBody>
      </p:sp>
      <p:sp>
        <p:nvSpPr>
          <p:cNvPr id="3" name="Subtitle 2">
            <a:extLst>
              <a:ext uri="{FF2B5EF4-FFF2-40B4-BE49-F238E27FC236}">
                <a16:creationId xmlns:a16="http://schemas.microsoft.com/office/drawing/2014/main" id="{4039F64D-0328-B5F6-C9AA-930FD9D5E60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63592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0EF4-6C7F-4C68-0B80-5C36FA8C6FC9}"/>
              </a:ext>
            </a:extLst>
          </p:cNvPr>
          <p:cNvSpPr>
            <a:spLocks noGrp="1"/>
          </p:cNvSpPr>
          <p:nvPr>
            <p:ph type="title"/>
          </p:nvPr>
        </p:nvSpPr>
        <p:spPr/>
        <p:txBody>
          <a:bodyPr/>
          <a:lstStyle/>
          <a:p>
            <a:r>
              <a:rPr lang="en-US" b="1" dirty="0"/>
              <a:t>From Dirt to Data</a:t>
            </a:r>
          </a:p>
        </p:txBody>
      </p:sp>
      <p:sp>
        <p:nvSpPr>
          <p:cNvPr id="3" name="Content Placeholder 2">
            <a:extLst>
              <a:ext uri="{FF2B5EF4-FFF2-40B4-BE49-F238E27FC236}">
                <a16:creationId xmlns:a16="http://schemas.microsoft.com/office/drawing/2014/main" id="{9D33A3BD-6527-4B8A-7362-5FFE9657789F}"/>
              </a:ext>
            </a:extLst>
          </p:cNvPr>
          <p:cNvSpPr>
            <a:spLocks noGrp="1"/>
          </p:cNvSpPr>
          <p:nvPr>
            <p:ph idx="1"/>
          </p:nvPr>
        </p:nvSpPr>
        <p:spPr/>
        <p:txBody>
          <a:bodyPr>
            <a:normAutofit fontScale="85000" lnSpcReduction="10000"/>
          </a:bodyPr>
          <a:lstStyle/>
          <a:p>
            <a:r>
              <a:rPr lang="en-US" b="1" dirty="0"/>
              <a:t>The Periodic Table of AI:</a:t>
            </a:r>
            <a:r>
              <a:rPr lang="en-US" dirty="0"/>
              <a:t> Mining for minerals like Lithium, Cobalt, and Rare Earth elements needed for chips. Trace the minerals (Lithium, Cobalt, Silicon) from mines in the DRC and Chile to the "clean rooms" of Taiwan.</a:t>
            </a:r>
          </a:p>
          <a:p>
            <a:r>
              <a:rPr lang="en-US" b="1" dirty="0"/>
              <a:t>GPU vs CPU:</a:t>
            </a:r>
            <a:r>
              <a:rPr lang="en-US" dirty="0"/>
              <a:t> Understanding Semiconductors. Why is NVIDIA a household name? Why the </a:t>
            </a:r>
            <a:r>
              <a:rPr lang="en-US" b="1" dirty="0"/>
              <a:t>NVIDIA RTX 3050</a:t>
            </a:r>
            <a:r>
              <a:rPr lang="en-US" dirty="0"/>
              <a:t> is a "parallel processing beast" compared to a standard processor. Explain </a:t>
            </a:r>
            <a:r>
              <a:rPr lang="en-US" b="1" dirty="0"/>
              <a:t>CUDA cores</a:t>
            </a:r>
            <a:r>
              <a:rPr lang="en-US" dirty="0"/>
              <a:t> and </a:t>
            </a:r>
            <a:r>
              <a:rPr lang="en-US" b="1" dirty="0"/>
              <a:t>Tensor cores</a:t>
            </a:r>
            <a:r>
              <a:rPr lang="en-US" dirty="0"/>
              <a:t>.</a:t>
            </a:r>
          </a:p>
          <a:p>
            <a:r>
              <a:rPr lang="en-US" b="1" dirty="0"/>
              <a:t>The Global Factory and Geopolitics of Silicon:</a:t>
            </a:r>
            <a:r>
              <a:rPr lang="en-US" dirty="0"/>
              <a:t> The geography of the supply chain—from design in the US to manufacturing in Taiwan (TSMC) and assembly globally. Discuss why 90% of advanced chips come from one company (TSMC).</a:t>
            </a:r>
          </a:p>
          <a:p>
            <a:r>
              <a:rPr lang="en-US" b="1" dirty="0"/>
              <a:t>Activity:</a:t>
            </a:r>
            <a:r>
              <a:rPr lang="en-US" dirty="0"/>
              <a:t> Students map the journey of a single AI chip from a cobalt mine to a data center.</a:t>
            </a:r>
          </a:p>
        </p:txBody>
      </p:sp>
    </p:spTree>
    <p:extLst>
      <p:ext uri="{BB962C8B-B14F-4D97-AF65-F5344CB8AC3E}">
        <p14:creationId xmlns:p14="http://schemas.microsoft.com/office/powerpoint/2010/main" val="3967507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9A8BF-FEC3-6A10-F561-4CAFA4D06F6E}"/>
              </a:ext>
            </a:extLst>
          </p:cNvPr>
          <p:cNvSpPr>
            <a:spLocks noGrp="1"/>
          </p:cNvSpPr>
          <p:nvPr>
            <p:ph type="title"/>
          </p:nvPr>
        </p:nvSpPr>
        <p:spPr/>
        <p:txBody>
          <a:bodyPr/>
          <a:lstStyle/>
          <a:p>
            <a:r>
              <a:rPr lang="en-US" b="1" dirty="0"/>
              <a:t>Data Center and Cloud</a:t>
            </a:r>
            <a:endParaRPr lang="en-US" dirty="0"/>
          </a:p>
        </p:txBody>
      </p:sp>
      <p:sp>
        <p:nvSpPr>
          <p:cNvPr id="3" name="Content Placeholder 2">
            <a:extLst>
              <a:ext uri="{FF2B5EF4-FFF2-40B4-BE49-F238E27FC236}">
                <a16:creationId xmlns:a16="http://schemas.microsoft.com/office/drawing/2014/main" id="{7D51715E-4DD7-1812-A41C-0C7C00E8EF31}"/>
              </a:ext>
            </a:extLst>
          </p:cNvPr>
          <p:cNvSpPr>
            <a:spLocks noGrp="1"/>
          </p:cNvSpPr>
          <p:nvPr>
            <p:ph idx="1"/>
          </p:nvPr>
        </p:nvSpPr>
        <p:spPr/>
        <p:txBody>
          <a:bodyPr>
            <a:normAutofit fontScale="92500" lnSpcReduction="10000"/>
          </a:bodyPr>
          <a:lstStyle/>
          <a:p>
            <a:r>
              <a:rPr lang="en-US" b="1" dirty="0"/>
              <a:t>What is a Data Center</a:t>
            </a:r>
            <a:r>
              <a:rPr lang="en-US" dirty="0"/>
              <a:t>: Understanding servers, racks, and high-speed networking.</a:t>
            </a:r>
          </a:p>
          <a:p>
            <a:r>
              <a:rPr lang="en-US" b="1" dirty="0"/>
              <a:t>Cloud and </a:t>
            </a:r>
            <a:r>
              <a:rPr lang="en-US" b="1" dirty="0" err="1"/>
              <a:t>Hyperscalers</a:t>
            </a:r>
            <a:r>
              <a:rPr lang="en-US" b="1" dirty="0"/>
              <a:t>:</a:t>
            </a:r>
            <a:r>
              <a:rPr lang="en-US" dirty="0"/>
              <a:t> Discuss "Compute-as-a-Utility" and the roles of Amazon (AWS), Microsoft (Azure), and Google Cloud in hosting AI.</a:t>
            </a:r>
          </a:p>
          <a:p>
            <a:r>
              <a:rPr lang="en-US" b="1" dirty="0"/>
              <a:t>Power &amp; Water:</a:t>
            </a:r>
            <a:r>
              <a:rPr lang="en-US" dirty="0"/>
              <a:t> Explain the massive energy requirements in training a model like GPT-4 and the water used to cool the "brains" of AI.</a:t>
            </a:r>
          </a:p>
          <a:p>
            <a:r>
              <a:rPr lang="en-US" b="1" dirty="0"/>
              <a:t>Quantization:</a:t>
            </a:r>
            <a:r>
              <a:rPr lang="en-US" dirty="0"/>
              <a:t> Explain how we "shrink" massive models to fit onto 6GB of VRAM (the limit of the RTX 3050) using 4-bit or 8-bit math.</a:t>
            </a:r>
          </a:p>
          <a:p>
            <a:r>
              <a:rPr lang="en-US" b="1" dirty="0"/>
              <a:t>Activity:</a:t>
            </a:r>
            <a:r>
              <a:rPr lang="en-US" dirty="0"/>
              <a:t> Calculating the estimated carbon footprint and water usage of a 30-minute AI brainstorming prompt session.</a:t>
            </a:r>
          </a:p>
        </p:txBody>
      </p:sp>
    </p:spTree>
    <p:extLst>
      <p:ext uri="{BB962C8B-B14F-4D97-AF65-F5344CB8AC3E}">
        <p14:creationId xmlns:p14="http://schemas.microsoft.com/office/powerpoint/2010/main" val="3768238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BB407-B609-64D4-8677-BFB4C1BD2C67}"/>
              </a:ext>
            </a:extLst>
          </p:cNvPr>
          <p:cNvSpPr>
            <a:spLocks noGrp="1"/>
          </p:cNvSpPr>
          <p:nvPr>
            <p:ph type="title"/>
          </p:nvPr>
        </p:nvSpPr>
        <p:spPr/>
        <p:txBody>
          <a:bodyPr>
            <a:normAutofit/>
          </a:bodyPr>
          <a:lstStyle/>
          <a:p>
            <a:r>
              <a:rPr lang="en-US" b="1" dirty="0"/>
              <a:t>The AI Software Stack</a:t>
            </a:r>
            <a:endParaRPr lang="en-US" dirty="0"/>
          </a:p>
        </p:txBody>
      </p:sp>
      <p:sp>
        <p:nvSpPr>
          <p:cNvPr id="3" name="Content Placeholder 2">
            <a:extLst>
              <a:ext uri="{FF2B5EF4-FFF2-40B4-BE49-F238E27FC236}">
                <a16:creationId xmlns:a16="http://schemas.microsoft.com/office/drawing/2014/main" id="{1CFB27C3-B866-28F9-1C99-0A69BF221813}"/>
              </a:ext>
            </a:extLst>
          </p:cNvPr>
          <p:cNvSpPr>
            <a:spLocks noGrp="1"/>
          </p:cNvSpPr>
          <p:nvPr>
            <p:ph idx="1"/>
          </p:nvPr>
        </p:nvSpPr>
        <p:spPr/>
        <p:txBody>
          <a:bodyPr>
            <a:normAutofit fontScale="92500" lnSpcReduction="20000"/>
          </a:bodyPr>
          <a:lstStyle/>
          <a:p>
            <a:r>
              <a:rPr lang="en-US" b="1" dirty="0"/>
              <a:t>Data:</a:t>
            </a:r>
            <a:r>
              <a:rPr lang="en-US" dirty="0"/>
              <a:t> The Fuel of AI. Where does training data come from? Discussion on web-scraping, licensing, and human data labeling. How RAG (Retrieval Augmented Generation) gives an AI a "textbook" so it stops hallucinating.</a:t>
            </a:r>
          </a:p>
          <a:p>
            <a:r>
              <a:rPr lang="en-US" b="1" dirty="0"/>
              <a:t>Models &amp; Algorithms:</a:t>
            </a:r>
            <a:r>
              <a:rPr lang="en-US" dirty="0"/>
              <a:t> High-level overview of Large Language Models (LLMs) and Diffusion models (images).</a:t>
            </a:r>
          </a:p>
          <a:p>
            <a:r>
              <a:rPr lang="en-US" b="1" dirty="0"/>
              <a:t>The Middleware:</a:t>
            </a:r>
            <a:r>
              <a:rPr lang="en-US" dirty="0"/>
              <a:t> Understanding APIs (Application Programming Interfaces). How does an app "talk" to a model? Explain that AI is just a function that takes a string and returns a string.</a:t>
            </a:r>
          </a:p>
          <a:p>
            <a:r>
              <a:rPr lang="en-US" b="1" dirty="0"/>
              <a:t>The User Interface:</a:t>
            </a:r>
            <a:r>
              <a:rPr lang="en-US" dirty="0"/>
              <a:t> Designing the chat box or app that humans actually interact with.</a:t>
            </a:r>
          </a:p>
          <a:p>
            <a:r>
              <a:rPr lang="en-US" b="1" dirty="0"/>
              <a:t>Activity:</a:t>
            </a:r>
            <a:r>
              <a:rPr lang="en-US" dirty="0"/>
              <a:t> "Build the Stack" A paper exercise where students assemble a hypothetical AI app, identifying each layer from hardware to UI.</a:t>
            </a:r>
          </a:p>
        </p:txBody>
      </p:sp>
    </p:spTree>
    <p:extLst>
      <p:ext uri="{BB962C8B-B14F-4D97-AF65-F5344CB8AC3E}">
        <p14:creationId xmlns:p14="http://schemas.microsoft.com/office/powerpoint/2010/main" val="2361863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19A13-2A5E-3A4D-78AA-DCFACFA37F2D}"/>
              </a:ext>
            </a:extLst>
          </p:cNvPr>
          <p:cNvSpPr>
            <a:spLocks noGrp="1"/>
          </p:cNvSpPr>
          <p:nvPr>
            <p:ph type="title"/>
          </p:nvPr>
        </p:nvSpPr>
        <p:spPr/>
        <p:txBody>
          <a:bodyPr>
            <a:normAutofit/>
          </a:bodyPr>
          <a:lstStyle/>
          <a:p>
            <a:r>
              <a:rPr lang="en-US" b="1" dirty="0"/>
              <a:t>Economy and Ethics</a:t>
            </a:r>
            <a:endParaRPr lang="en-US" dirty="0"/>
          </a:p>
        </p:txBody>
      </p:sp>
      <p:sp>
        <p:nvSpPr>
          <p:cNvPr id="3" name="Content Placeholder 2">
            <a:extLst>
              <a:ext uri="{FF2B5EF4-FFF2-40B4-BE49-F238E27FC236}">
                <a16:creationId xmlns:a16="http://schemas.microsoft.com/office/drawing/2014/main" id="{ECAAC552-B09F-A1B3-94C8-F3C58C807F65}"/>
              </a:ext>
            </a:extLst>
          </p:cNvPr>
          <p:cNvSpPr>
            <a:spLocks noGrp="1"/>
          </p:cNvSpPr>
          <p:nvPr>
            <p:ph idx="1"/>
          </p:nvPr>
        </p:nvSpPr>
        <p:spPr/>
        <p:txBody>
          <a:bodyPr>
            <a:normAutofit lnSpcReduction="10000"/>
          </a:bodyPr>
          <a:lstStyle/>
          <a:p>
            <a:r>
              <a:rPr lang="en-US" b="1" dirty="0"/>
              <a:t>E-Waste:</a:t>
            </a:r>
            <a:r>
              <a:rPr lang="en-US" dirty="0"/>
              <a:t> What happens to those expensive chips when they are obsolete? The challenge of hardware recycling such as the toxicity of lead and mercury in old hardware.</a:t>
            </a:r>
          </a:p>
          <a:p>
            <a:r>
              <a:rPr lang="en-US" b="1" dirty="0"/>
              <a:t>Supply Chain Ethics:</a:t>
            </a:r>
            <a:r>
              <a:rPr lang="en-US" dirty="0"/>
              <a:t> Discussion on labor practices in mining and data labeling (the "human in the loop"). Who labeled the data? For example, who filtered toxic content for AI models.</a:t>
            </a:r>
          </a:p>
          <a:p>
            <a:r>
              <a:rPr lang="en-US" b="1" dirty="0"/>
              <a:t>Open vs. Closed:</a:t>
            </a:r>
            <a:r>
              <a:rPr lang="en-US" dirty="0"/>
              <a:t> The benefits of keeping models on a local system (Privacy/Control) versus sending data to OpenAI and other external systems (Convenience).</a:t>
            </a:r>
          </a:p>
          <a:p>
            <a:r>
              <a:rPr lang="en-US" b="1" dirty="0"/>
              <a:t>The Future of the Stack:</a:t>
            </a:r>
            <a:r>
              <a:rPr lang="en-US" dirty="0"/>
              <a:t> Exploration of "Edge AI" (AI running on your phone instead of the cloud) and sustainable computing.</a:t>
            </a:r>
          </a:p>
        </p:txBody>
      </p:sp>
    </p:spTree>
    <p:extLst>
      <p:ext uri="{BB962C8B-B14F-4D97-AF65-F5344CB8AC3E}">
        <p14:creationId xmlns:p14="http://schemas.microsoft.com/office/powerpoint/2010/main" val="3536321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874</Words>
  <Application>Microsoft Office PowerPoint</Application>
  <PresentationFormat>Widescreen</PresentationFormat>
  <Paragraphs>39</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Sovereign AI</vt:lpstr>
      <vt:lpstr>From Dirt to Data</vt:lpstr>
      <vt:lpstr>Data Center and Cloud</vt:lpstr>
      <vt:lpstr>The AI Software Stack</vt:lpstr>
      <vt:lpstr>Economy and Ethics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 Cupano</dc:creator>
  <cp:lastModifiedBy>Joe Cupano</cp:lastModifiedBy>
  <cp:revision>2</cp:revision>
  <dcterms:created xsi:type="dcterms:W3CDTF">2026-02-21T09:31:12Z</dcterms:created>
  <dcterms:modified xsi:type="dcterms:W3CDTF">2026-02-21T09:56:38Z</dcterms:modified>
</cp:coreProperties>
</file>